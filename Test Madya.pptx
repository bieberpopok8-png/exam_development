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69" r:id="rId2"/>
    <p:sldId id="315" r:id="rId3"/>
    <p:sldId id="305" r:id="rId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40"/>
  </p:normalViewPr>
  <p:slideViewPr>
    <p:cSldViewPr snapToGrid="0">
      <p:cViewPr varScale="1">
        <p:scale>
          <a:sx n="111" d="100"/>
          <a:sy n="111" d="100"/>
        </p:scale>
        <p:origin x="3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7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2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99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3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89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70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13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8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8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53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14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124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F4659-E546-9458-3591-47989D484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81" y="226291"/>
            <a:ext cx="10891837" cy="1096963"/>
          </a:xfrm>
        </p:spPr>
        <p:txBody>
          <a:bodyPr/>
          <a:lstStyle/>
          <a:p>
            <a:r>
              <a:rPr lang="en-US" dirty="0"/>
              <a:t>Rubrik 1</a:t>
            </a:r>
            <a:endParaRPr lang="en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D1C504-5189-942B-9B7F-1B7B02E6D3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6518824"/>
              </p:ext>
            </p:extLst>
          </p:nvPr>
        </p:nvGraphicFramePr>
        <p:xfrm>
          <a:off x="650081" y="1192807"/>
          <a:ext cx="10515597" cy="4755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9306">
                  <a:extLst>
                    <a:ext uri="{9D8B030D-6E8A-4147-A177-3AD203B41FA5}">
                      <a16:colId xmlns:a16="http://schemas.microsoft.com/office/drawing/2014/main" val="938920211"/>
                    </a:ext>
                  </a:extLst>
                </a:gridCol>
                <a:gridCol w="1237129">
                  <a:extLst>
                    <a:ext uri="{9D8B030D-6E8A-4147-A177-3AD203B41FA5}">
                      <a16:colId xmlns:a16="http://schemas.microsoft.com/office/drawing/2014/main" val="1564698483"/>
                    </a:ext>
                  </a:extLst>
                </a:gridCol>
                <a:gridCol w="1609162">
                  <a:extLst>
                    <a:ext uri="{9D8B030D-6E8A-4147-A177-3AD203B41FA5}">
                      <a16:colId xmlns:a16="http://schemas.microsoft.com/office/drawing/2014/main" val="1750445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Komponen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Nilai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Marka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893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 err="1">
                          <a:effectLst/>
                          <a:latin typeface="+mn-lt"/>
                        </a:rPr>
                        <a:t>Mamografi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 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+mn-lt"/>
                        </a:rPr>
                        <a:t>5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849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 err="1">
                          <a:effectLst/>
                          <a:latin typeface="+mn-lt"/>
                        </a:rPr>
                        <a:t>Densitas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 BIRADS B 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+mn-lt"/>
                        </a:rPr>
                        <a:t>5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775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2000" kern="100" dirty="0">
                          <a:effectLst/>
                          <a:latin typeface="+mn-lt"/>
                        </a:rPr>
                        <a:t>Massa irregular,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hiperdens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, batas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spikulasi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433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00" dirty="0" err="1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Kuadran</a:t>
                      </a:r>
                      <a:r>
                        <a:rPr lang="en-US" sz="200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 superolateral mammae </a:t>
                      </a:r>
                      <a:r>
                        <a:rPr lang="en-US" sz="2000" kern="100" dirty="0" err="1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kanan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5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80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 err="1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Mikrokalsifikasi</a:t>
                      </a:r>
                      <a:r>
                        <a:rPr lang="en-ID" sz="200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ID" sz="2000" kern="100" dirty="0" err="1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kalsifikasi</a:t>
                      </a:r>
                      <a:r>
                        <a:rPr lang="en-ID" sz="200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 fine pleomorphic / coarse </a:t>
                      </a:r>
                      <a:r>
                        <a:rPr lang="en-ID" sz="2000" kern="100" dirty="0" err="1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heterogen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581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 err="1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Penebalan</a:t>
                      </a:r>
                      <a:r>
                        <a:rPr lang="en-US" sz="200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err="1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kutis</a:t>
                      </a:r>
                      <a:r>
                        <a:rPr lang="en-US" sz="200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 mammae </a:t>
                      </a:r>
                      <a:r>
                        <a:rPr lang="en-US" sz="2000" kern="100" dirty="0" err="1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kanan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5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608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+mn-lt"/>
                        </a:rPr>
                        <a:t>USG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+mn-lt"/>
                        </a:rPr>
                        <a:t>5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965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+mn-lt"/>
                        </a:rPr>
                        <a:t>Massa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hipoekhoik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heterogen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, irregular,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angulasi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/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spikulasi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+mn-lt"/>
                        </a:rPr>
                        <a:t>15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578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 err="1">
                          <a:effectLst/>
                          <a:latin typeface="+mn-lt"/>
                        </a:rPr>
                        <a:t>Kelenjar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limfe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aksilla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kanan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membulat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,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tanpa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sentral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 hilus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187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+mn-lt"/>
                        </a:rPr>
                        <a:t>Diagnosis: Lesi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maligna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 mammae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kanan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 +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Limfadenopati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maligna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aksilla</a:t>
                      </a:r>
                      <a:r>
                        <a:rPr lang="en-ID" sz="2000" kern="100" dirty="0">
                          <a:effectLst/>
                          <a:latin typeface="+mn-lt"/>
                        </a:rPr>
                        <a:t> </a:t>
                      </a:r>
                      <a:r>
                        <a:rPr lang="en-ID" sz="2000" kern="100" dirty="0" err="1">
                          <a:effectLst/>
                          <a:latin typeface="+mn-lt"/>
                        </a:rPr>
                        <a:t>kanan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D" sz="200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21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+mn-lt"/>
                        </a:rPr>
                        <a:t>BIRADS 5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+mn-lt"/>
                        </a:rPr>
                        <a:t>10</a:t>
                      </a:r>
                      <a:endParaRPr lang="en-ID" sz="200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810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1395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AB96A-06F1-D0E6-E1DC-5049435D0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7DC86-B924-1DCD-7EFB-1DAE4C26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81" y="226291"/>
            <a:ext cx="10891837" cy="1096963"/>
          </a:xfrm>
        </p:spPr>
        <p:txBody>
          <a:bodyPr/>
          <a:lstStyle/>
          <a:p>
            <a:r>
              <a:rPr lang="en-US" dirty="0"/>
              <a:t>Rubrik 2</a:t>
            </a:r>
            <a:endParaRPr lang="en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EB3422-2B66-828B-781F-41040E537B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7977430"/>
              </p:ext>
            </p:extLst>
          </p:nvPr>
        </p:nvGraphicFramePr>
        <p:xfrm>
          <a:off x="650081" y="1500816"/>
          <a:ext cx="1051559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9306">
                  <a:extLst>
                    <a:ext uri="{9D8B030D-6E8A-4147-A177-3AD203B41FA5}">
                      <a16:colId xmlns:a16="http://schemas.microsoft.com/office/drawing/2014/main" val="938920211"/>
                    </a:ext>
                  </a:extLst>
                </a:gridCol>
                <a:gridCol w="1237129">
                  <a:extLst>
                    <a:ext uri="{9D8B030D-6E8A-4147-A177-3AD203B41FA5}">
                      <a16:colId xmlns:a16="http://schemas.microsoft.com/office/drawing/2014/main" val="1564698483"/>
                    </a:ext>
                  </a:extLst>
                </a:gridCol>
                <a:gridCol w="1609162">
                  <a:extLst>
                    <a:ext uri="{9D8B030D-6E8A-4147-A177-3AD203B41FA5}">
                      <a16:colId xmlns:a16="http://schemas.microsoft.com/office/drawing/2014/main" val="1750445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Komponen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Nilai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Marka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893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</a:rPr>
                        <a:t>USG </a:t>
                      </a:r>
                      <a:endParaRPr lang="en-ID" sz="2000" kern="100" dirty="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+mj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965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</a:rPr>
                        <a:t>Lesi </a:t>
                      </a:r>
                      <a:r>
                        <a:rPr lang="en-ID" sz="2000" kern="100" dirty="0" err="1">
                          <a:effectLst/>
                        </a:rPr>
                        <a:t>kistik</a:t>
                      </a:r>
                      <a:r>
                        <a:rPr lang="en-ID" sz="2000" kern="100" dirty="0">
                          <a:effectLst/>
                        </a:rPr>
                        <a:t> </a:t>
                      </a:r>
                      <a:r>
                        <a:rPr lang="en-ID" sz="2000" kern="100" dirty="0" err="1">
                          <a:effectLst/>
                        </a:rPr>
                        <a:t>anekoik</a:t>
                      </a:r>
                      <a:r>
                        <a:rPr lang="en-ID" sz="2000" kern="100" dirty="0">
                          <a:effectLst/>
                        </a:rPr>
                        <a:t> dg internal echo</a:t>
                      </a:r>
                      <a:endParaRPr lang="en-ID" sz="2000" kern="100" dirty="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+mj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578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b="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Oval/round/</a:t>
                      </a:r>
                      <a:r>
                        <a:rPr lang="en-ID" sz="2000" b="0" kern="100" dirty="0" err="1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berlobulasi</a:t>
                      </a:r>
                      <a:r>
                        <a:rPr lang="en-ID" sz="2000" b="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; batas </a:t>
                      </a:r>
                      <a:r>
                        <a:rPr lang="en-ID" sz="2000" b="0" kern="100" dirty="0" err="1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tegas</a:t>
                      </a:r>
                      <a:endParaRPr lang="en-ID" sz="2000" b="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en-ID" sz="2000" b="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187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 err="1">
                          <a:effectLst/>
                        </a:rPr>
                        <a:t>Tanpa</a:t>
                      </a:r>
                      <a:r>
                        <a:rPr lang="en-ID" sz="2000" kern="100" dirty="0">
                          <a:effectLst/>
                        </a:rPr>
                        <a:t> </a:t>
                      </a:r>
                      <a:r>
                        <a:rPr lang="en-ID" sz="2000" kern="100" dirty="0" err="1">
                          <a:effectLst/>
                        </a:rPr>
                        <a:t>komponen</a:t>
                      </a:r>
                      <a:r>
                        <a:rPr lang="en-ID" sz="2000" kern="100" dirty="0">
                          <a:effectLst/>
                        </a:rPr>
                        <a:t> </a:t>
                      </a:r>
                      <a:r>
                        <a:rPr lang="en-ID" sz="2000" kern="100" dirty="0" err="1">
                          <a:effectLst/>
                        </a:rPr>
                        <a:t>padat</a:t>
                      </a:r>
                      <a:endParaRPr lang="en-ID" sz="2000" b="0" kern="100" dirty="0">
                        <a:effectLst/>
                        <a:latin typeface="+mn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b="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85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b="0" kern="100" dirty="0" err="1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Vaskularisasi</a:t>
                      </a:r>
                      <a:r>
                        <a:rPr lang="en-ID" sz="2000" b="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2000" b="0" kern="100" dirty="0" err="1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perilesi</a:t>
                      </a:r>
                      <a:r>
                        <a:rPr lang="en-ID" sz="2000" b="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/posterior enhancement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b="0" kern="100" dirty="0">
                          <a:effectLst/>
                          <a:latin typeface="+mn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0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</a:rPr>
                        <a:t>Diagnosis: Complicated cyst</a:t>
                      </a:r>
                      <a:endParaRPr lang="en-ID" sz="2000" kern="100" dirty="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+mj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D" sz="2000" kern="100" dirty="0">
                          <a:effectLst/>
                          <a:latin typeface="+mj-lt"/>
                          <a:ea typeface="Yu Gothic" panose="020B0400000000000000" pitchFamily="34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21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</a:rPr>
                        <a:t>BIRADS 3</a:t>
                      </a:r>
                      <a:endParaRPr lang="en-ID" sz="2000" kern="100" dirty="0">
                        <a:effectLst/>
                        <a:latin typeface="Aptos" panose="020B000402020202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2000" kern="100" dirty="0">
                          <a:effectLst/>
                          <a:latin typeface="+mj-lt"/>
                        </a:rPr>
                        <a:t>10</a:t>
                      </a:r>
                      <a:endParaRPr lang="en-ID" sz="2000" kern="100" dirty="0">
                        <a:effectLst/>
                        <a:latin typeface="+mj-lt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810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242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8D278-38F2-68BB-1BE2-81F59C65A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177800"/>
            <a:ext cx="10353762" cy="1100667"/>
          </a:xfrm>
        </p:spPr>
        <p:txBody>
          <a:bodyPr>
            <a:normAutofit/>
          </a:bodyPr>
          <a:lstStyle/>
          <a:p>
            <a:r>
              <a:rPr lang="en-US" dirty="0"/>
              <a:t>Rubrik 3</a:t>
            </a:r>
            <a:endParaRPr lang="en-ID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AB3F4AE-46A5-28FA-792C-9117C5B65F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1911079"/>
              </p:ext>
            </p:extLst>
          </p:nvPr>
        </p:nvGraphicFramePr>
        <p:xfrm>
          <a:off x="694985" y="1637623"/>
          <a:ext cx="10460081" cy="3333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2911">
                  <a:extLst>
                    <a:ext uri="{9D8B030D-6E8A-4147-A177-3AD203B41FA5}">
                      <a16:colId xmlns:a16="http://schemas.microsoft.com/office/drawing/2014/main" val="3082005208"/>
                    </a:ext>
                  </a:extLst>
                </a:gridCol>
                <a:gridCol w="1277170">
                  <a:extLst>
                    <a:ext uri="{9D8B030D-6E8A-4147-A177-3AD203B41FA5}">
                      <a16:colId xmlns:a16="http://schemas.microsoft.com/office/drawing/2014/main" val="3241083874"/>
                    </a:ext>
                  </a:extLst>
                </a:gridCol>
              </a:tblGrid>
              <a:tr h="450659">
                <a:tc>
                  <a:txBody>
                    <a:bodyPr/>
                    <a:lstStyle/>
                    <a:p>
                      <a:r>
                        <a:rPr lang="en-US" dirty="0" err="1"/>
                        <a:t>Jawaban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 </a:t>
                      </a:r>
                      <a:r>
                        <a:rPr lang="en-ID" dirty="0" err="1"/>
                        <a:t>Poin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545405"/>
                  </a:ext>
                </a:extLst>
              </a:tr>
              <a:tr h="414286">
                <a:tc>
                  <a:txBody>
                    <a:bodyPr/>
                    <a:lstStyle/>
                    <a:p>
                      <a:r>
                        <a:rPr lang="en-ID" dirty="0" err="1"/>
                        <a:t>Ultrasonografi</a:t>
                      </a:r>
                      <a:r>
                        <a:rPr lang="en-ID" dirty="0"/>
                        <a:t> mammae bilateral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875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Kutis dan subkutis tidak menebal.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255611"/>
                  </a:ext>
                </a:extLst>
              </a:tr>
              <a:tr h="506355">
                <a:tc>
                  <a:txBody>
                    <a:bodyPr/>
                    <a:lstStyle/>
                    <a:p>
                      <a:r>
                        <a:rPr lang="en-ID" dirty="0"/>
                        <a:t>Lesi </a:t>
                      </a:r>
                      <a:r>
                        <a:rPr lang="en-ID" dirty="0" err="1"/>
                        <a:t>hipoekoik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heterogen</a:t>
                      </a:r>
                      <a:r>
                        <a:rPr lang="en-ID" dirty="0"/>
                        <a:t>; irregular; batas </a:t>
                      </a:r>
                      <a:r>
                        <a:rPr lang="en-ID" dirty="0" err="1"/>
                        <a:t>tidak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tegas</a:t>
                      </a:r>
                      <a:endParaRPr lang="en-ID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dirty="0" err="1"/>
                        <a:t>Struktur</a:t>
                      </a:r>
                      <a:r>
                        <a:rPr lang="en-ID" dirty="0"/>
                        <a:t> fibroglandular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635881"/>
                  </a:ext>
                </a:extLst>
              </a:tr>
              <a:tr h="31282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dirty="0" err="1"/>
                        <a:t>Retropapilla</a:t>
                      </a:r>
                      <a:r>
                        <a:rPr lang="en-ID" dirty="0"/>
                        <a:t> mammae bilateral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66648"/>
                  </a:ext>
                </a:extLst>
              </a:tr>
              <a:tr h="338572">
                <a:tc>
                  <a:txBody>
                    <a:bodyPr/>
                    <a:lstStyle/>
                    <a:p>
                      <a:r>
                        <a:rPr lang="en-ID" dirty="0"/>
                        <a:t>Tidak </a:t>
                      </a:r>
                      <a:r>
                        <a:rPr lang="en-ID" dirty="0" err="1"/>
                        <a:t>tampak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lesi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maligna</a:t>
                      </a:r>
                      <a:r>
                        <a:rPr lang="en-ID" dirty="0"/>
                        <a:t>/</a:t>
                      </a:r>
                      <a:r>
                        <a:rPr lang="en-ID" dirty="0" err="1"/>
                        <a:t>kalsifikasi</a:t>
                      </a:r>
                      <a:r>
                        <a:rPr lang="en-ID" dirty="0"/>
                        <a:t>. Pada </a:t>
                      </a:r>
                      <a:r>
                        <a:rPr lang="en-ID" dirty="0" err="1"/>
                        <a:t>color</a:t>
                      </a:r>
                      <a:r>
                        <a:rPr lang="en-ID" dirty="0"/>
                        <a:t> Doppler </a:t>
                      </a:r>
                      <a:r>
                        <a:rPr lang="en-ID" dirty="0" err="1"/>
                        <a:t>tampak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vaskularisasi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intralesi</a:t>
                      </a:r>
                      <a:r>
                        <a:rPr lang="en-ID" dirty="0"/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428124"/>
                  </a:ext>
                </a:extLst>
              </a:tr>
              <a:tr h="338572">
                <a:tc>
                  <a:txBody>
                    <a:bodyPr/>
                    <a:lstStyle/>
                    <a:p>
                      <a:r>
                        <a:rPr lang="en-ID" dirty="0"/>
                        <a:t>Diagnosis: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984512"/>
                  </a:ext>
                </a:extLst>
              </a:tr>
              <a:tr h="341697">
                <a:tc>
                  <a:txBody>
                    <a:bodyPr/>
                    <a:lstStyle/>
                    <a:p>
                      <a:r>
                        <a:rPr lang="sv-SE" dirty="0"/>
                        <a:t>Gynecomastia bilateral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5027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64315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171</Words>
  <Application>Microsoft Macintosh PowerPoint</Application>
  <PresentationFormat>Widescreen</PresentationFormat>
  <Paragraphs>62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Grandview Display</vt:lpstr>
      <vt:lpstr>DashVTI</vt:lpstr>
      <vt:lpstr>Rubrik 1</vt:lpstr>
      <vt:lpstr>Rubrik 2</vt:lpstr>
      <vt:lpstr>Rubrik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R. A. Windu Cahyaningrum Handayani Notonagoro Suryaningrat</dc:creator>
  <cp:lastModifiedBy>R. A. Windu Cahyaningrum Handayani Notonagoro Suryaningrat</cp:lastModifiedBy>
  <cp:revision>18</cp:revision>
  <dcterms:created xsi:type="dcterms:W3CDTF">2025-06-18T14:33:35Z</dcterms:created>
  <dcterms:modified xsi:type="dcterms:W3CDTF">2026-07-10T04:58:31Z</dcterms:modified>
</cp:coreProperties>
</file>